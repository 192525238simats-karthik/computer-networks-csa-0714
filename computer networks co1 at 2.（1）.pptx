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7772400" cy="10693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AD88C1-14E2-4E07-BAAA-2D704A09BA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DEDD96-1583-4DC0-A1A4-C621D3AACC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388440" y="426600"/>
            <a:ext cx="69948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88440" y="2502000"/>
            <a:ext cx="69948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2"/>
          <p:cNvCxnSpPr/>
          <p:nvPr/>
        </p:nvCxnSpPr>
        <p:spPr>
          <a:xfrm>
            <a:off x="914400" y="2536560"/>
            <a:ext cx="5747040" cy="360"/>
          </a:xfrm>
          <a:prstGeom prst="straightConnector1">
            <a:avLst/>
          </a:prstGeom>
          <a:ln w="26670">
            <a:solidFill>
              <a:srgbClr val="000000"/>
            </a:solidFill>
            <a:round/>
          </a:ln>
        </p:spPr>
      </p:cxnSp>
      <p:cxnSp>
        <p:nvCxnSpPr>
          <p:cNvPr id="6" name="Connector 3"/>
          <p:cNvCxnSpPr/>
          <p:nvPr/>
        </p:nvCxnSpPr>
        <p:spPr>
          <a:xfrm>
            <a:off x="914400" y="4098600"/>
            <a:ext cx="5747040" cy="360"/>
          </a:xfrm>
          <a:prstGeom prst="straightConnector1">
            <a:avLst/>
          </a:prstGeom>
          <a:ln w="26670">
            <a:solidFill>
              <a:srgbClr val="000000"/>
            </a:solidFill>
            <a:round/>
          </a:ln>
        </p:spPr>
      </p:cxnSp>
      <p:cxnSp>
        <p:nvCxnSpPr>
          <p:cNvPr id="7" name="Connector 4"/>
          <p:cNvCxnSpPr/>
          <p:nvPr/>
        </p:nvCxnSpPr>
        <p:spPr>
          <a:xfrm>
            <a:off x="914400" y="5486760"/>
            <a:ext cx="5747040" cy="360"/>
          </a:xfrm>
          <a:prstGeom prst="straightConnector1">
            <a:avLst/>
          </a:prstGeom>
          <a:ln w="26670">
            <a:solidFill>
              <a:srgbClr val="000000"/>
            </a:solidFill>
            <a:round/>
          </a:ln>
        </p:spPr>
      </p:cxnSp>
      <p:pic>
        <p:nvPicPr>
          <p:cNvPr id="8" name="Picture 5" descr=""/>
          <p:cNvPicPr/>
          <p:nvPr/>
        </p:nvPicPr>
        <p:blipFill>
          <a:blip r:embed="rId1"/>
          <a:stretch/>
        </p:blipFill>
        <p:spPr>
          <a:xfrm>
            <a:off x="914400" y="2523600"/>
            <a:ext cx="5746320" cy="2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6" descr=""/>
          <p:cNvPicPr/>
          <p:nvPr/>
        </p:nvPicPr>
        <p:blipFill>
          <a:blip r:embed="rId2"/>
          <a:stretch/>
        </p:blipFill>
        <p:spPr>
          <a:xfrm>
            <a:off x="914400" y="4085640"/>
            <a:ext cx="5746320" cy="2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7" descr=""/>
          <p:cNvPicPr/>
          <p:nvPr/>
        </p:nvPicPr>
        <p:blipFill>
          <a:blip r:embed="rId3"/>
          <a:stretch/>
        </p:blipFill>
        <p:spPr>
          <a:xfrm>
            <a:off x="914400" y="5473800"/>
            <a:ext cx="5746320" cy="2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Box 8"/>
          <p:cNvSpPr/>
          <p:nvPr/>
        </p:nvSpPr>
        <p:spPr>
          <a:xfrm>
            <a:off x="2602080" y="941040"/>
            <a:ext cx="2494080" cy="4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709"/>
              </a:lnSpc>
              <a:tabLst>
                <a:tab algn="l" pos="0"/>
              </a:tabLst>
            </a:pPr>
            <a:r>
              <a:rPr b="1" lang="en" sz="1700" spc="-43" strike="noStrike" u="none">
                <a:solidFill>
                  <a:srgbClr val="000000"/>
                </a:solidFill>
                <a:uFillTx/>
                <a:latin typeface="Times New Roman"/>
              </a:rPr>
              <a:t>SIMATS ENGINEERING </a:t>
            </a:r>
            <a:endParaRPr b="0" lang="en-US" sz="17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59200" defTabSz="914400">
              <a:lnSpc>
                <a:spcPts val="1400"/>
              </a:lnSpc>
              <a:spcBef>
                <a:spcPts val="221"/>
              </a:spcBef>
              <a:tabLst>
                <a:tab algn="l" pos="0"/>
              </a:tabLst>
            </a:pPr>
            <a:r>
              <a:rPr b="1" lang="en-US" sz="1400" spc="-14" strike="noStrike" u="none">
                <a:solidFill>
                  <a:srgbClr val="000000"/>
                </a:solidFill>
                <a:uFillTx/>
                <a:latin typeface="Times New Roman"/>
              </a:rPr>
              <a:t>ASSESSMENT TOOL 2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2" name="TextBox 9"/>
          <p:cNvSpPr/>
          <p:nvPr/>
        </p:nvSpPr>
        <p:spPr>
          <a:xfrm>
            <a:off x="914400" y="1883520"/>
            <a:ext cx="1235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Arial"/>
              </a:rPr>
              <a:t>COURSE NAME: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" name="TextBox 10"/>
          <p:cNvSpPr/>
          <p:nvPr/>
        </p:nvSpPr>
        <p:spPr>
          <a:xfrm>
            <a:off x="2287440" y="1883520"/>
            <a:ext cx="3209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6" strike="noStrike" u="none">
                <a:solidFill>
                  <a:srgbClr val="000000"/>
                </a:solidFill>
                <a:uFillTx/>
                <a:latin typeface="Arial"/>
              </a:rPr>
              <a:t>CSA07 COURSE CODE:</a:t>
            </a:r>
            <a:r>
              <a:rPr b="0" lang="en-US" sz="1200" spc="9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1" lang="en-US" sz="1200" spc="31" strike="noStrike" u="none">
                <a:solidFill>
                  <a:srgbClr val="000000"/>
                </a:solidFill>
                <a:uFillTx/>
                <a:latin typeface="Arial"/>
              </a:rPr>
              <a:t>Computer Networks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4" name="TextBox 11"/>
          <p:cNvSpPr/>
          <p:nvPr/>
        </p:nvSpPr>
        <p:spPr>
          <a:xfrm>
            <a:off x="914400" y="2744640"/>
            <a:ext cx="562068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21600"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Arial"/>
              </a:rPr>
              <a:t>COURSE OUTCOME COVERED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" defTabSz="914400">
              <a:lnSpc>
                <a:spcPts val="1210"/>
              </a:lnSpc>
              <a:spcBef>
                <a:spcPts val="1559"/>
              </a:spcBef>
              <a:tabLst>
                <a:tab algn="l" pos="0"/>
              </a:tabLst>
            </a:pPr>
            <a:r>
              <a:rPr b="1" i="1" lang="en-US" sz="1200" spc="11" strike="noStrike" u="none">
                <a:solidFill>
                  <a:srgbClr val="000000"/>
                </a:solidFill>
                <a:uFillTx/>
                <a:latin typeface="Arial"/>
              </a:rPr>
              <a:t>CO1: </a:t>
            </a:r>
            <a:r>
              <a:rPr b="0" i="1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Apply the functions of OSI layer in enabling reliable data transmission across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"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i="1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networks.</a:t>
            </a:r>
            <a:r>
              <a:rPr b="0" i="1" lang="en-US" sz="950" spc="11" strike="noStrike" u="none">
                <a:solidFill>
                  <a:srgbClr val="000000"/>
                </a:solidFill>
                <a:uFillTx/>
                <a:latin typeface="Arial"/>
              </a:rPr>
              <a:t> (BL2, BL3)</a:t>
            </a:r>
            <a:endParaRPr b="0" lang="en-US" sz="9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" defTabSz="914400">
              <a:lnSpc>
                <a:spcPts val="1199"/>
              </a:lnSpc>
              <a:spcBef>
                <a:spcPts val="1559"/>
              </a:spcBef>
              <a:tabLst>
                <a:tab algn="l" pos="0"/>
              </a:tabLst>
            </a:pPr>
            <a:r>
              <a:rPr b="0" i="1" lang="en-US" sz="1200" spc="-17" strike="noStrike" u="none">
                <a:solidFill>
                  <a:srgbClr val="000000"/>
                </a:solidFill>
                <a:uFillTx/>
                <a:latin typeface="Arial"/>
              </a:rPr>
              <a:t>Assessment Tool Weightage: 30%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5" name="TextBox 12"/>
          <p:cNvSpPr/>
          <p:nvPr/>
        </p:nvSpPr>
        <p:spPr>
          <a:xfrm>
            <a:off x="2914560" y="4484520"/>
            <a:ext cx="149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algn="r" defTabSz="914400">
              <a:lnSpc>
                <a:spcPts val="1199"/>
              </a:lnSpc>
              <a:spcBef>
                <a:spcPts val="560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Annexure 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algn="r" defTabSz="914400">
              <a:lnSpc>
                <a:spcPts val="1199"/>
              </a:lnSpc>
              <a:spcBef>
                <a:spcPts val="1559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Arial"/>
              </a:rPr>
              <a:t>CONCEPT MAPPING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6" name="TextBox 13"/>
          <p:cNvSpPr/>
          <p:nvPr/>
        </p:nvSpPr>
        <p:spPr>
          <a:xfrm>
            <a:off x="892800" y="5695920"/>
            <a:ext cx="6429600" cy="13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" defTabSz="914400">
              <a:lnSpc>
                <a:spcPts val="1199"/>
              </a:lnSpc>
              <a:spcBef>
                <a:spcPts val="5579"/>
              </a:spcBef>
              <a:tabLst>
                <a:tab algn="l" pos="0"/>
              </a:tabLst>
            </a:pPr>
            <a:r>
              <a:rPr b="1" i="1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Code of Conduct: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230"/>
              </a:lnSpc>
              <a:spcBef>
                <a:spcPts val="479"/>
              </a:spcBef>
              <a:tabLst>
                <a:tab algn="l" pos="0"/>
              </a:tabLst>
            </a:pPr>
            <a:r>
              <a:rPr b="0" i="1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 </a:t>
            </a:r>
            <a:r>
              <a:rPr b="0" i="1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 paluchuri karthik (192525238)</a:t>
            </a:r>
            <a:r>
              <a:rPr b="0" i="1" lang="en-US" sz="1200" spc="31" strike="noStrike" u="none">
                <a:solidFill>
                  <a:srgbClr val="000000"/>
                </a:solidFill>
                <a:uFillTx/>
                <a:latin typeface="Times New Roman"/>
              </a:rPr>
              <a:t> (</a:t>
            </a:r>
            <a:r>
              <a:rPr b="0" i="1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Name / Reg No) certify that this submission is my original work and that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59"/>
              </a:spcBef>
              <a:tabLst>
                <a:tab algn="l" pos="0"/>
              </a:tabLst>
            </a:pPr>
            <a:r>
              <a:rPr b="0" i="1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 have adhered to the guidelines specified for this assessment.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9"/>
              </a:spcBef>
              <a:tabLst>
                <a:tab algn="l" pos="0"/>
              </a:tabLst>
            </a:pPr>
            <a:r>
              <a:rPr b="0" i="1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 understand that any violation of academic integrity rules will result in disciplinary action.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19080" defTabSz="914400">
              <a:lnSpc>
                <a:spcPts val="1199"/>
              </a:lnSpc>
              <a:spcBef>
                <a:spcPts val="4110"/>
              </a:spcBef>
              <a:tabLst>
                <a:tab algn="l" pos="0"/>
              </a:tabLst>
            </a:pPr>
            <a:r>
              <a:rPr b="1" i="1" lang="en-US" sz="1200" spc="-9" strike="noStrike" u="none">
                <a:solidFill>
                  <a:srgbClr val="000000"/>
                </a:solidFill>
                <a:uFillTx/>
                <a:latin typeface="Times New Roman"/>
              </a:rPr>
              <a:t>Signature of the student: paluchuri karthik (192525238)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2"/>
          <p:cNvSpPr/>
          <p:nvPr/>
        </p:nvSpPr>
        <p:spPr>
          <a:xfrm>
            <a:off x="2861280" y="934560"/>
            <a:ext cx="1584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algn="r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Arial"/>
              </a:rPr>
              <a:t>Annexure 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algn="r" defTabSz="914400">
              <a:lnSpc>
                <a:spcPts val="1199"/>
              </a:lnSpc>
              <a:spcBef>
                <a:spcPts val="1559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1" lang="en-US" sz="1200" strike="noStrike" u="none">
                <a:solidFill>
                  <a:srgbClr val="000000"/>
                </a:solidFill>
                <a:uFillTx/>
                <a:latin typeface="Arial"/>
              </a:rPr>
              <a:t>CONCEPT MAPPING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" name="TextBox 3"/>
          <p:cNvSpPr/>
          <p:nvPr/>
        </p:nvSpPr>
        <p:spPr>
          <a:xfrm>
            <a:off x="914400" y="1722240"/>
            <a:ext cx="5803560" cy="78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23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1. A partially completed concept map is given below: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940"/>
              </a:spcBef>
              <a:tabLst>
                <a:tab algn="l" pos="0"/>
              </a:tabLst>
            </a:pPr>
            <a:r>
              <a:rPr b="0" lang="en-US" sz="1200" spc="6" strike="noStrike" u="none">
                <a:solidFill>
                  <a:srgbClr val="000000"/>
                </a:solidFill>
                <a:uFillTx/>
                <a:latin typeface="Arial"/>
              </a:rPr>
              <a:t>Application → Presentation → ______ → Transport → Network → ______ → Physical.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940"/>
              </a:spcBef>
              <a:tabLst>
                <a:tab algn="l" pos="0"/>
              </a:tabLst>
            </a:pPr>
            <a:r>
              <a:rPr b="0" lang="en-US" sz="1200" spc="-6" strike="noStrike" u="none">
                <a:solidFill>
                  <a:srgbClr val="000000"/>
                </a:solidFill>
                <a:uFillTx/>
                <a:latin typeface="Arial"/>
              </a:rPr>
              <a:t>Analyze the missing layers and explain how their functions are essential for reliable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communication.</a:t>
            </a:r>
            <a:r>
              <a:rPr b="1" lang="en-US" sz="1200" spc="9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9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2. Construct a concept map linking data units (Segment, Packet, Frame, Bits) with their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59"/>
              </a:spcBef>
              <a:tabLst>
                <a:tab algn="l" pos="0"/>
              </a:tabLst>
            </a:pPr>
            <a:r>
              <a:rPr b="0" lang="en-US" sz="1200" spc="31" strike="noStrike" u="none">
                <a:solidFill>
                  <a:srgbClr val="000000"/>
                </a:solidFill>
                <a:uFillTx/>
                <a:latin typeface="Arial"/>
              </a:rPr>
              <a:t>respective OSI layers and analyze how transformation of data units supports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transmission.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940"/>
              </a:spcBef>
              <a:tabLst>
                <a:tab algn="l" pos="0"/>
              </a:tabLst>
            </a:pPr>
            <a:r>
              <a:rPr b="0" lang="en-US" sz="1200" spc="-17" strike="noStrike" u="none">
                <a:solidFill>
                  <a:srgbClr val="000000"/>
                </a:solidFill>
                <a:uFillTx/>
                <a:latin typeface="Arial"/>
              </a:rPr>
              <a:t>3.Given the concept map: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-6" strike="noStrike" u="none">
                <a:solidFill>
                  <a:srgbClr val="000000"/>
                </a:solidFill>
                <a:uFillTx/>
                <a:latin typeface="Arial"/>
              </a:rPr>
              <a:t>DataLink→MACAddress→LocalDelivery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-3" strike="noStrike" u="none">
                <a:solidFill>
                  <a:srgbClr val="000000"/>
                </a:solidFill>
                <a:uFillTx/>
                <a:latin typeface="Arial"/>
              </a:rPr>
              <a:t>Network → IP Address → Global Delivery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Explain how these relationships ensure complete data delivery across networks.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50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4. A concept map shows: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ErrorControl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→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DataLinkLayer→ErrorDetection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-3" strike="noStrike" u="none">
                <a:solidFill>
                  <a:srgbClr val="000000"/>
                </a:solidFill>
                <a:uFillTx/>
                <a:latin typeface="Arial"/>
              </a:rPr>
              <a:t>→ </a:t>
            </a:r>
            <a:r>
              <a:rPr b="0" lang="en-US" sz="1200" spc="-3" strike="noStrike" u="none">
                <a:solidFill>
                  <a:srgbClr val="000000"/>
                </a:solidFill>
                <a:uFillTx/>
                <a:latin typeface="Arial"/>
              </a:rPr>
              <a:t>Transport Layer → Error Correction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31" strike="noStrike" u="none">
                <a:solidFill>
                  <a:srgbClr val="000000"/>
                </a:solidFill>
                <a:uFillTx/>
                <a:latin typeface="Arial"/>
              </a:rPr>
              <a:t>Analyze how the interaction between these layers improves reliability in data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transmission.</a:t>
            </a:r>
            <a:r>
              <a:rPr b="1" lang="en-US" sz="12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940"/>
              </a:spcBef>
              <a:tabLst>
                <a:tab algn="l" pos="0"/>
              </a:tabLst>
            </a:pPr>
            <a:r>
              <a:rPr b="0" lang="en-US" sz="1200" spc="-17" strike="noStrike" u="none">
                <a:solidFill>
                  <a:srgbClr val="000000"/>
                </a:solidFill>
                <a:uFillTx/>
                <a:latin typeface="Arial"/>
              </a:rPr>
              <a:t>5. Develop a concept map for web browsing using OSI layers and analyze how failure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8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in one layer affects the entire communication process.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95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6. A network issue is represented in the concept map: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23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</a:rPr>
              <a:t>Physical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Calibri"/>
                <a:ea typeface="Segoe UI Symbol"/>
              </a:rPr>
              <a:t>✔</a:t>
            </a:r>
            <a:r>
              <a:rPr b="0" lang="en-US" sz="1200" spc="6" strike="noStrike" u="none">
                <a:solidFill>
                  <a:srgbClr val="000000"/>
                </a:solidFill>
                <a:uFillTx/>
                <a:latin typeface="Arial"/>
                <a:ea typeface="Segoe UI Symbol"/>
              </a:rPr>
              <a:t> → Data Link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Calibri"/>
                <a:ea typeface="Segoe UI Symbol"/>
              </a:rPr>
              <a:t>✔</a:t>
            </a:r>
            <a:r>
              <a:rPr b="0" lang="en-US" sz="1200" spc="11" strike="noStrike" u="none">
                <a:solidFill>
                  <a:srgbClr val="000000"/>
                </a:solidFill>
                <a:uFillTx/>
                <a:latin typeface="Arial"/>
                <a:ea typeface="Segoe UI Symbol"/>
              </a:rPr>
              <a:t> → Network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Calibri"/>
                <a:ea typeface="Segoe UI Symbol"/>
              </a:rPr>
              <a:t>✖</a:t>
            </a:r>
            <a:r>
              <a:rPr b="0" lang="en-US" sz="1200" spc="3" strike="noStrike" u="none">
                <a:solidFill>
                  <a:srgbClr val="000000"/>
                </a:solidFill>
                <a:uFillTx/>
                <a:latin typeface="Arial"/>
                <a:ea typeface="Segoe UI Symbol"/>
              </a:rPr>
              <a:t> → Transport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Calibri"/>
                <a:ea typeface="Segoe UI Symbol"/>
              </a:rPr>
              <a:t>✖</a:t>
            </a:r>
            <a:r>
              <a:rPr b="0" lang="en-US" sz="1200" spc="-3" strike="noStrike" u="none">
                <a:solidFill>
                  <a:srgbClr val="000000"/>
                </a:solidFill>
                <a:uFillTx/>
                <a:latin typeface="Arial"/>
                <a:ea typeface="Segoe UI Symbol"/>
              </a:rPr>
              <a:t> → Application 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Calibri"/>
                <a:ea typeface="Segoe UI Symbol"/>
              </a:rPr>
              <a:t>✖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  <a:ea typeface="Segoe UI Symbo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02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Arial"/>
                <a:ea typeface="Segoe UI Symbol"/>
              </a:rPr>
              <a:t>Analyze the problem and explain how the concept map helps in troubleshooting.</a:t>
            </a:r>
            <a:r>
              <a:rPr b="0" lang="en-US" sz="750" spc="3" strike="noStrike" u="none">
                <a:solidFill>
                  <a:srgbClr val="000000"/>
                </a:solidFill>
                <a:uFillTx/>
                <a:latin typeface="Arial"/>
                <a:ea typeface="Segoe UI Symbol"/>
              </a:rPr>
              <a:t> </a:t>
            </a:r>
            <a:endParaRPr b="0" lang="en-US" sz="7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/>
          <p:nvPr/>
        </p:nvSpPr>
        <p:spPr>
          <a:xfrm>
            <a:off x="914400" y="939960"/>
            <a:ext cx="5529240" cy="13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511"/>
              </a:lnSpc>
              <a:tabLst>
                <a:tab algn="l" pos="0"/>
              </a:tabLst>
            </a:pPr>
            <a:r>
              <a:rPr b="1" lang="en" sz="1500" spc="3" strike="noStrike" u="none">
                <a:solidFill>
                  <a:srgbClr val="000000"/>
                </a:solidFill>
                <a:uFillTx/>
                <a:latin typeface="Times New Roman"/>
              </a:rPr>
              <a:t>Question 1: Missing OSI Layers and Their Functions 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261"/>
              </a:spcBef>
              <a:tabLst>
                <a:tab algn="l" pos="0"/>
              </a:tabLst>
            </a:pPr>
            <a:r>
              <a:rPr b="1" lang="en-US" sz="1200" spc="-3" strike="noStrike" u="none">
                <a:solidFill>
                  <a:srgbClr val="000000"/>
                </a:solidFill>
                <a:uFillTx/>
                <a:latin typeface="Times New Roman"/>
              </a:rPr>
              <a:t>Completed Concept Map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17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Application \(\rightarrow \) Presentation \(\rightarrow \) </a:t>
            </a:r>
            <a:r>
              <a:rPr b="1" lang="en-US" sz="1200" spc="-6" strike="noStrike" u="none">
                <a:solidFill>
                  <a:srgbClr val="000000"/>
                </a:solidFill>
                <a:uFillTx/>
                <a:latin typeface="Times New Roman"/>
              </a:rPr>
              <a:t>Session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\(\rightarrow \) Transport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39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\(\rightarrow \) Network \(\rightarrow \) </a:t>
            </a:r>
            <a:r>
              <a:rPr b="1" lang="en-US" sz="1200" spc="-14" strike="noStrike" u="none">
                <a:solidFill>
                  <a:srgbClr val="000000"/>
                </a:solidFill>
                <a:uFillTx/>
                <a:latin typeface="Times New Roman"/>
              </a:rPr>
              <a:t>Data Link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\(\rightarrow \) Physical.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219"/>
              </a:spcBef>
              <a:tabLst>
                <a:tab algn="l" pos="0"/>
              </a:tabLst>
            </a:pPr>
            <a:r>
              <a:rPr b="1" lang="en-US" sz="1200" spc="-9" strike="noStrike" u="none">
                <a:solidFill>
                  <a:srgbClr val="000000"/>
                </a:solidFill>
                <a:uFillTx/>
                <a:latin typeface="Times New Roman"/>
              </a:rPr>
              <a:t>Functional Analysis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0" name="TextBox 3"/>
          <p:cNvSpPr/>
          <p:nvPr/>
        </p:nvSpPr>
        <p:spPr>
          <a:xfrm>
            <a:off x="1143000" y="242172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1373040" y="2405520"/>
            <a:ext cx="541224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6" strike="noStrike" u="none">
                <a:solidFill>
                  <a:srgbClr val="000000"/>
                </a:solidFill>
                <a:uFillTx/>
                <a:latin typeface="Times New Roman"/>
              </a:rPr>
              <a:t>Session Layer: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28600" defTabSz="914400">
              <a:lnSpc>
                <a:spcPts val="1159"/>
              </a:lnSpc>
              <a:tabLst>
                <a:tab algn="l" pos="0"/>
              </a:tabLst>
            </a:pPr>
            <a:r>
              <a:rPr b="0" lang="en-US" sz="1000" spc="26" strike="noStrike" u="none">
                <a:solidFill>
                  <a:srgbClr val="000000"/>
                </a:solidFill>
                <a:uFillTx/>
                <a:latin typeface="Times New Roman"/>
              </a:rPr>
              <a:t>o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Establishes, manages, and terminates communication sessions between local and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" name="TextBox 5"/>
          <p:cNvSpPr/>
          <p:nvPr/>
        </p:nvSpPr>
        <p:spPr>
          <a:xfrm>
            <a:off x="1830240" y="2752200"/>
            <a:ext cx="1272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remote applications.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3" name="TextBox 6"/>
          <p:cNvSpPr/>
          <p:nvPr/>
        </p:nvSpPr>
        <p:spPr>
          <a:xfrm>
            <a:off x="1601640" y="2943720"/>
            <a:ext cx="11124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00" spc="26" strike="noStrike" u="none">
                <a:solidFill>
                  <a:srgbClr val="000000"/>
                </a:solidFill>
                <a:uFillTx/>
                <a:latin typeface="Times New Roman"/>
              </a:rPr>
              <a:t>o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4" name="TextBox 7"/>
          <p:cNvSpPr/>
          <p:nvPr/>
        </p:nvSpPr>
        <p:spPr>
          <a:xfrm>
            <a:off x="1830240" y="2926080"/>
            <a:ext cx="5060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Handles authentication, authorization, and session restoration (checkpointing) so 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5" name="TextBox 8"/>
          <p:cNvSpPr/>
          <p:nvPr/>
        </p:nvSpPr>
        <p:spPr>
          <a:xfrm>
            <a:off x="1830240" y="3102480"/>
            <a:ext cx="4189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connection can resume from its last known good state if interrupted.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6" name="TextBox 9"/>
          <p:cNvSpPr/>
          <p:nvPr/>
        </p:nvSpPr>
        <p:spPr>
          <a:xfrm>
            <a:off x="1143000" y="329688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7" name="TextBox 10"/>
          <p:cNvSpPr/>
          <p:nvPr/>
        </p:nvSpPr>
        <p:spPr>
          <a:xfrm>
            <a:off x="1373040" y="3280320"/>
            <a:ext cx="50122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Data Link Layer: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28600" defTabSz="914400">
              <a:lnSpc>
                <a:spcPts val="1171"/>
              </a:lnSpc>
              <a:tabLst>
                <a:tab algn="l" pos="0"/>
              </a:tabLst>
            </a:pPr>
            <a:r>
              <a:rPr b="0" lang="en-US" sz="1000" spc="26" strike="noStrike" u="none">
                <a:solidFill>
                  <a:srgbClr val="000000"/>
                </a:solidFill>
                <a:uFillTx/>
                <a:latin typeface="Times New Roman"/>
              </a:rPr>
              <a:t>o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Provides reliable node-to-node data transfer across a physical link.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28600" defTabSz="914400">
              <a:lnSpc>
                <a:spcPts val="1179"/>
              </a:lnSpc>
              <a:tabLst>
                <a:tab algn="l" pos="0"/>
              </a:tabLst>
            </a:pPr>
            <a:r>
              <a:rPr b="0" lang="en-US" sz="1000" spc="26" strike="noStrike" u="none">
                <a:solidFill>
                  <a:srgbClr val="000000"/>
                </a:solidFill>
                <a:uFillTx/>
                <a:latin typeface="Times New Roman"/>
              </a:rPr>
              <a:t>o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Packages raw bits from the Physical layer into structured frames.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28600" defTabSz="914400">
              <a:lnSpc>
                <a:spcPts val="1199"/>
              </a:lnSpc>
              <a:spcBef>
                <a:spcPts val="11"/>
              </a:spcBef>
              <a:tabLst>
                <a:tab algn="l" pos="0"/>
              </a:tabLst>
            </a:pPr>
            <a:r>
              <a:rPr b="0" lang="en-US" sz="1000" spc="26" strike="noStrike" u="none">
                <a:solidFill>
                  <a:srgbClr val="000000"/>
                </a:solidFill>
                <a:uFillTx/>
                <a:latin typeface="Times New Roman"/>
              </a:rPr>
              <a:t>o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	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Implements physical addressing (MAC addresses), flow control, and error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8" name="TextBox 11"/>
          <p:cNvSpPr/>
          <p:nvPr/>
        </p:nvSpPr>
        <p:spPr>
          <a:xfrm>
            <a:off x="914400" y="3977640"/>
            <a:ext cx="4035600" cy="14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915840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detection to ensure local data delivery is accurate.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511"/>
              </a:lnSpc>
              <a:spcBef>
                <a:spcPts val="6670"/>
              </a:spcBef>
              <a:tabLst>
                <a:tab algn="l" pos="0"/>
              </a:tabLst>
            </a:pPr>
            <a:r>
              <a:rPr b="1" lang="en-US" sz="1500" spc="-3" strike="noStrike" u="none">
                <a:solidFill>
                  <a:srgbClr val="000000"/>
                </a:solidFill>
                <a:uFillTx/>
                <a:latin typeface="Times New Roman"/>
              </a:rPr>
              <a:t>Question 2: Data Units and OSI Layers Mapping 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468"/>
              </a:spcBef>
              <a:tabLst>
                <a:tab algn="l" pos="0"/>
              </a:tabLst>
            </a:pPr>
            <a:r>
              <a:rPr b="1" lang="en-US" sz="1200" spc="-6" strike="noStrike" u="none">
                <a:solidFill>
                  <a:srgbClr val="000000"/>
                </a:solidFill>
                <a:uFillTx/>
                <a:latin typeface="Times New Roman"/>
              </a:rPr>
              <a:t>Concept Map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" name="TextBox 12"/>
          <p:cNvSpPr/>
          <p:nvPr/>
        </p:nvSpPr>
        <p:spPr>
          <a:xfrm>
            <a:off x="1143000" y="5543640"/>
            <a:ext cx="9360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020"/>
              </a:lnSpc>
              <a:spcBef>
                <a:spcPts val="349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020"/>
              </a:lnSpc>
              <a:spcBef>
                <a:spcPts val="380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020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en-US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0" name="TextBox 13"/>
          <p:cNvSpPr/>
          <p:nvPr/>
        </p:nvSpPr>
        <p:spPr>
          <a:xfrm>
            <a:off x="1373040" y="5527080"/>
            <a:ext cx="4145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11" strike="noStrike" u="none">
                <a:solidFill>
                  <a:srgbClr val="000000"/>
                </a:solidFill>
                <a:uFillTx/>
                <a:latin typeface="Times New Roman"/>
              </a:rPr>
              <a:t>Transport Layer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\(\rightarrow \) </a:t>
            </a: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Segment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(or Datagram for UDP)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1" lang="en-US" sz="1200" spc="-3" strike="noStrike" u="none">
                <a:solidFill>
                  <a:srgbClr val="000000"/>
                </a:solidFill>
                <a:uFillTx/>
                <a:latin typeface="Times New Roman"/>
              </a:rPr>
              <a:t>Network Layer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\(\rightarrow \) </a:t>
            </a: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Packet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1" lang="en-US" sz="1200" spc="-3" strike="noStrike" u="none">
                <a:solidFill>
                  <a:srgbClr val="000000"/>
                </a:solidFill>
                <a:uFillTx/>
                <a:latin typeface="Times New Roman"/>
              </a:rPr>
              <a:t>Data Link Layer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\(\rightarrow \) </a:t>
            </a:r>
            <a:r>
              <a:rPr b="1" lang="en-US" sz="1200" spc="-6" strike="noStrike" u="none">
                <a:solidFill>
                  <a:srgbClr val="000000"/>
                </a:solidFill>
                <a:uFillTx/>
                <a:latin typeface="Times New Roman"/>
              </a:rPr>
              <a:t>Frame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1" lang="en-US" sz="1200" spc="9" strike="noStrike" u="none">
                <a:solidFill>
                  <a:srgbClr val="000000"/>
                </a:solidFill>
                <a:uFillTx/>
                <a:latin typeface="Times New Roman"/>
              </a:rPr>
              <a:t>Physical Layer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\(\rightarrow \) </a:t>
            </a: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Bits</a:t>
            </a: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1" name="TextBox 14"/>
          <p:cNvSpPr/>
          <p:nvPr/>
        </p:nvSpPr>
        <p:spPr>
          <a:xfrm>
            <a:off x="914400" y="6234480"/>
            <a:ext cx="3965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-3" strike="noStrike" u="none">
                <a:solidFill>
                  <a:srgbClr val="000000"/>
                </a:solidFill>
                <a:uFillTx/>
                <a:latin typeface="Times New Roman"/>
              </a:rPr>
              <a:t>Transformation Analysis (Encapsulation and Decapsulation)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2" name="TextBox 15"/>
          <p:cNvSpPr/>
          <p:nvPr/>
        </p:nvSpPr>
        <p:spPr>
          <a:xfrm>
            <a:off x="1143000" y="655056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3" name="TextBox 16"/>
          <p:cNvSpPr/>
          <p:nvPr/>
        </p:nvSpPr>
        <p:spPr>
          <a:xfrm>
            <a:off x="1373040" y="6532920"/>
            <a:ext cx="4973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Downstream (Encapsulation):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Data moves down the stack, and each layer adds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4" name="TextBox 17"/>
          <p:cNvSpPr/>
          <p:nvPr/>
        </p:nvSpPr>
        <p:spPr>
          <a:xfrm>
            <a:off x="1373040" y="6706800"/>
            <a:ext cx="542124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structural control data (headers/trailers). The Transport layer splits data into manageable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segments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. The Network layer adds IP addresses to form </a:t>
            </a: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packets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for routing. The Data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Link layer wraps packets into </a:t>
            </a:r>
            <a:r>
              <a:rPr b="1" lang="en-US" sz="1200" spc="9" strike="noStrike" u="none">
                <a:solidFill>
                  <a:srgbClr val="000000"/>
                </a:solidFill>
                <a:uFillTx/>
                <a:latin typeface="Times New Roman"/>
              </a:rPr>
              <a:t>frames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with physical MAC addresses. The Physical layer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converts frames into electrical or optical </a:t>
            </a:r>
            <a:r>
              <a:rPr b="1" lang="en-US" sz="1200" spc="6" strike="noStrike" u="none">
                <a:solidFill>
                  <a:srgbClr val="000000"/>
                </a:solidFill>
                <a:uFillTx/>
                <a:latin typeface="Times New Roman"/>
              </a:rPr>
              <a:t>bits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for medium transmission.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5" name="TextBox 18"/>
          <p:cNvSpPr/>
          <p:nvPr/>
        </p:nvSpPr>
        <p:spPr>
          <a:xfrm>
            <a:off x="1143000" y="742572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6" name="TextBox 19"/>
          <p:cNvSpPr/>
          <p:nvPr/>
        </p:nvSpPr>
        <p:spPr>
          <a:xfrm>
            <a:off x="1373040" y="7408080"/>
            <a:ext cx="5473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-3" strike="noStrike" u="none">
                <a:solidFill>
                  <a:srgbClr val="000000"/>
                </a:solidFill>
                <a:uFillTx/>
                <a:latin typeface="Times New Roman"/>
              </a:rPr>
              <a:t>Upstream (Decapsulation):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The receiving device strips away these headers step-by-step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" name="TextBox 20"/>
          <p:cNvSpPr/>
          <p:nvPr/>
        </p:nvSpPr>
        <p:spPr>
          <a:xfrm>
            <a:off x="914400" y="7584480"/>
            <a:ext cx="5339880" cy="13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458640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to process and verify the data. This structured transformation abstracts complex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networking tasks, letting each layer focus purely on its specific operational job.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511"/>
              </a:lnSpc>
              <a:spcBef>
                <a:spcPts val="6639"/>
              </a:spcBef>
              <a:tabLst>
                <a:tab algn="l" pos="0"/>
              </a:tabLst>
            </a:pPr>
            <a:r>
              <a:rPr b="1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Question 3: Addressing and Delivery Systems 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2"/>
          <p:cNvSpPr/>
          <p:nvPr/>
        </p:nvSpPr>
        <p:spPr>
          <a:xfrm>
            <a:off x="914400" y="934560"/>
            <a:ext cx="16722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-6" strike="noStrike" u="none">
                <a:solidFill>
                  <a:srgbClr val="000000"/>
                </a:solidFill>
                <a:uFillTx/>
                <a:latin typeface="Times New Roman"/>
              </a:rPr>
              <a:t>Analysis of Relationships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9" name="TextBox 3"/>
          <p:cNvSpPr/>
          <p:nvPr/>
        </p:nvSpPr>
        <p:spPr>
          <a:xfrm>
            <a:off x="1143000" y="125100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0" name="TextBox 4"/>
          <p:cNvSpPr/>
          <p:nvPr/>
        </p:nvSpPr>
        <p:spPr>
          <a:xfrm>
            <a:off x="1373040" y="1234440"/>
            <a:ext cx="5501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Data Link Layer \(\rightarrow \) MAC Address \(\rightarrow \) Local Delivery: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This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" name="TextBox 5"/>
          <p:cNvSpPr/>
          <p:nvPr/>
        </p:nvSpPr>
        <p:spPr>
          <a:xfrm>
            <a:off x="1373040" y="1407240"/>
            <a:ext cx="5493600" cy="12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relationship operates within a single local network segment (LAN). Devices use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hardware-burned MAC addresses to forward data frames directly between adjacent nodes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on the same physical link.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Network Layer \(\rightarrow \) IP Address \(\rightarrow \) Global Delivery: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This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relationship spans across multiple interconnected networks. Logical IP addresses allow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routers to determine the best path across different subnets, moving packets from the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original source network to the final destination network.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2" name="TextBox 6"/>
          <p:cNvSpPr/>
          <p:nvPr/>
        </p:nvSpPr>
        <p:spPr>
          <a:xfrm>
            <a:off x="1143000" y="265428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3" name="TextBox 7"/>
          <p:cNvSpPr/>
          <p:nvPr/>
        </p:nvSpPr>
        <p:spPr>
          <a:xfrm>
            <a:off x="1373040" y="2636640"/>
            <a:ext cx="5243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Ensuring Complete Delivery: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Local delivery alone cannot cross a router, and global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4" name="TextBox 8"/>
          <p:cNvSpPr/>
          <p:nvPr/>
        </p:nvSpPr>
        <p:spPr>
          <a:xfrm>
            <a:off x="914400" y="2810520"/>
            <a:ext cx="5976360" cy="17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458640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delivery alone does not know which specific machine on a local switch should receive the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data. Together, IP routing gets the data to the correct neighborhood, and MAC addressing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delivers it to the correct house.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511"/>
              </a:lnSpc>
              <a:spcBef>
                <a:spcPts val="6639"/>
              </a:spcBef>
              <a:tabLst>
                <a:tab algn="l" pos="0"/>
              </a:tabLst>
            </a:pPr>
            <a:r>
              <a:rPr b="1" lang="en-US" sz="1500" spc="3" strike="noStrike" u="none">
                <a:solidFill>
                  <a:srgbClr val="000000"/>
                </a:solidFill>
                <a:uFillTx/>
                <a:latin typeface="Times New Roman"/>
              </a:rPr>
              <a:t>Question 4: Error Control Interaction Across Layers 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490"/>
              </a:spcBef>
              <a:tabLst>
                <a:tab algn="l" pos="0"/>
              </a:tabLst>
            </a:pPr>
            <a:r>
              <a:rPr b="1" lang="en-US" sz="1200" spc="-3" strike="noStrike" u="none">
                <a:solidFill>
                  <a:srgbClr val="000000"/>
                </a:solidFill>
                <a:uFillTx/>
                <a:latin typeface="Times New Roman"/>
              </a:rPr>
              <a:t>Interaction Analysis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5" name="TextBox 9"/>
          <p:cNvSpPr/>
          <p:nvPr/>
        </p:nvSpPr>
        <p:spPr>
          <a:xfrm>
            <a:off x="1143000" y="472680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6" name="TextBox 10"/>
          <p:cNvSpPr/>
          <p:nvPr/>
        </p:nvSpPr>
        <p:spPr>
          <a:xfrm>
            <a:off x="1373040" y="4710600"/>
            <a:ext cx="4979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Data Link Layer (Error Detection):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This layer handles immediate, hop-by-hop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7" name="TextBox 11"/>
          <p:cNvSpPr/>
          <p:nvPr/>
        </p:nvSpPr>
        <p:spPr>
          <a:xfrm>
            <a:off x="1373040" y="4883040"/>
            <a:ext cx="548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integrity checks. It utilizes mathematical checks like Cyclic Redundancy Check (CRC) in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frame trailer to identify if bits were corrupted over the physical wire. If a frame is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5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broken, it is typically discarded right away.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8" name="TextBox 12"/>
          <p:cNvSpPr/>
          <p:nvPr/>
        </p:nvSpPr>
        <p:spPr>
          <a:xfrm>
            <a:off x="1143000" y="542808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9" name="TextBox 13"/>
          <p:cNvSpPr/>
          <p:nvPr/>
        </p:nvSpPr>
        <p:spPr>
          <a:xfrm>
            <a:off x="1373040" y="5411520"/>
            <a:ext cx="5465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11" strike="noStrike" u="none">
                <a:solidFill>
                  <a:srgbClr val="000000"/>
                </a:solidFill>
                <a:uFillTx/>
                <a:latin typeface="Times New Roman"/>
              </a:rPr>
              <a:t>Transport Layer (Error Correction):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This layer provides end-to-end reliability. It uses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0" name="TextBox 14"/>
          <p:cNvSpPr/>
          <p:nvPr/>
        </p:nvSpPr>
        <p:spPr>
          <a:xfrm>
            <a:off x="1373040" y="5584320"/>
            <a:ext cx="5491080" cy="5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sequence numbers and acknowledgments (like TCP ACKs). If the receiving end notices 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missing segment (potentially dropped by the Data Link layer below), it requests 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retransmission from the original source.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1" name="TextBox 15"/>
          <p:cNvSpPr/>
          <p:nvPr/>
        </p:nvSpPr>
        <p:spPr>
          <a:xfrm>
            <a:off x="1143000" y="612900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2" name="TextBox 16"/>
          <p:cNvSpPr/>
          <p:nvPr/>
        </p:nvSpPr>
        <p:spPr>
          <a:xfrm>
            <a:off x="1373040" y="6112440"/>
            <a:ext cx="53769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Reliability Improvement: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This split responsibility saves network bandwidth. Catching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3" name="TextBox 17"/>
          <p:cNvSpPr/>
          <p:nvPr/>
        </p:nvSpPr>
        <p:spPr>
          <a:xfrm>
            <a:off x="914400" y="6286680"/>
            <a:ext cx="5802120" cy="17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458640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errors early at the Data Link layer prevents corrupted data from traveling further up the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stack, while the Transport layer guarantees that any dropped data is successfully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recovered.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511"/>
              </a:lnSpc>
              <a:spcBef>
                <a:spcPts val="6639"/>
              </a:spcBef>
              <a:tabLst>
                <a:tab algn="l" pos="0"/>
              </a:tabLst>
            </a:pPr>
            <a:r>
              <a:rPr b="1" lang="en-US" sz="1500" spc="-3" strike="noStrike" u="none">
                <a:solidFill>
                  <a:srgbClr val="000000"/>
                </a:solidFill>
                <a:uFillTx/>
                <a:latin typeface="Times New Roman"/>
              </a:rPr>
              <a:t>Question 5: Web Browsing Concept Map and Failure Analysis 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468"/>
              </a:spcBef>
              <a:tabLst>
                <a:tab algn="l" pos="0"/>
              </a:tabLst>
            </a:pPr>
            <a:r>
              <a:rPr b="1" lang="en-US" sz="1200" spc="-3" strike="noStrike" u="none">
                <a:solidFill>
                  <a:srgbClr val="000000"/>
                </a:solidFill>
                <a:uFillTx/>
                <a:latin typeface="Times New Roman"/>
              </a:rPr>
              <a:t>Web Browsing OSI Concept Map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4" name="TextBox 18"/>
          <p:cNvSpPr/>
          <p:nvPr/>
        </p:nvSpPr>
        <p:spPr>
          <a:xfrm>
            <a:off x="1143000" y="8200440"/>
            <a:ext cx="93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09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5" name="TextBox 19"/>
          <p:cNvSpPr/>
          <p:nvPr/>
        </p:nvSpPr>
        <p:spPr>
          <a:xfrm>
            <a:off x="1373040" y="8182440"/>
            <a:ext cx="52599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Application / Presentation / Session Layers: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HTTP/HTTPS protocols structure web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6" name="TextBox 20"/>
          <p:cNvSpPr/>
          <p:nvPr/>
        </p:nvSpPr>
        <p:spPr>
          <a:xfrm>
            <a:off x="1373040" y="8359200"/>
            <a:ext cx="2424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requests; TLS/SSL handles encryption.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7" name="TextBox 21"/>
          <p:cNvSpPr/>
          <p:nvPr/>
        </p:nvSpPr>
        <p:spPr>
          <a:xfrm>
            <a:off x="1143000" y="8551080"/>
            <a:ext cx="93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09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8" name="TextBox 22"/>
          <p:cNvSpPr/>
          <p:nvPr/>
        </p:nvSpPr>
        <p:spPr>
          <a:xfrm>
            <a:off x="1373040" y="8533080"/>
            <a:ext cx="5094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14" strike="noStrike" u="none">
                <a:solidFill>
                  <a:srgbClr val="000000"/>
                </a:solidFill>
                <a:uFillTx/>
                <a:latin typeface="Times New Roman"/>
              </a:rPr>
              <a:t>Transport Layer: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TCP establishes a reliable connection via a 3-way handshake to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9" name="TextBox 23"/>
          <p:cNvSpPr/>
          <p:nvPr/>
        </p:nvSpPr>
        <p:spPr>
          <a:xfrm>
            <a:off x="1373040" y="8709840"/>
            <a:ext cx="1650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destination port 80 or 443.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2"/>
          <p:cNvSpPr/>
          <p:nvPr/>
        </p:nvSpPr>
        <p:spPr>
          <a:xfrm>
            <a:off x="1143000" y="94608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1373040" y="929520"/>
            <a:ext cx="5501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Network Layer: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IP routes the web traffic across the internet using source and destination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1373040" y="1102320"/>
            <a:ext cx="832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IP addresses.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1143000" y="129672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1373040" y="1280160"/>
            <a:ext cx="5131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Data Link / Physical Layers: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Ethernet or Wi-Fi transmits the web data as physical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914400" y="1454040"/>
            <a:ext cx="22057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458640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signals over local hardware.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Failure Cascading Analysis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1143000" y="1953360"/>
            <a:ext cx="93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09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1373040" y="1935360"/>
            <a:ext cx="5384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9" strike="noStrike" u="none">
                <a:solidFill>
                  <a:srgbClr val="000000"/>
                </a:solidFill>
                <a:uFillTx/>
                <a:latin typeface="Times New Roman"/>
              </a:rPr>
              <a:t>The Impact: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If a lower layer fails (e.g., a broken Network Layer due to a lost IP route),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914400" y="2109600"/>
            <a:ext cx="57780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458640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entire upper communication chain collapses.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1" lang="en-US" sz="1200" spc="9" strike="noStrike" u="none">
                <a:solidFill>
                  <a:srgbClr val="000000"/>
                </a:solidFill>
                <a:uFillTx/>
                <a:latin typeface="Times New Roman"/>
              </a:rPr>
              <a:t>Why it happens: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Layers are strictly dependent on the services provided by the layers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directly beneath them. If the Network layer cannot route packets, the Transport layer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cannot maintain its TCP connection, preventing the Application layer from loading the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458640"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website. The user sees a "Network Timeout" or "No Internet" error.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511"/>
              </a:lnSpc>
              <a:spcBef>
                <a:spcPts val="6639"/>
              </a:spcBef>
              <a:tabLst>
                <a:tab algn="l" pos="0"/>
              </a:tabLst>
            </a:pPr>
            <a:r>
              <a:rPr b="1" lang="en-US" sz="1500" spc="-6" strike="noStrike" u="none">
                <a:solidFill>
                  <a:srgbClr val="000000"/>
                </a:solidFill>
                <a:uFillTx/>
                <a:latin typeface="Times New Roman"/>
              </a:rPr>
              <a:t>Question 6: Troubleshooting via Concept Map </a:t>
            </a:r>
            <a:endParaRPr b="0" lang="en-US" sz="15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490"/>
              </a:spcBef>
              <a:tabLst>
                <a:tab algn="l" pos="0"/>
              </a:tabLst>
            </a:pPr>
            <a:r>
              <a:rPr b="1" lang="en-US" sz="1200" spc="-3" strike="noStrike" u="none">
                <a:solidFill>
                  <a:srgbClr val="000000"/>
                </a:solidFill>
                <a:uFillTx/>
                <a:latin typeface="Times New Roman"/>
              </a:rPr>
              <a:t>Problem Analysis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1143000" y="437652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1373040" y="4358520"/>
            <a:ext cx="53679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Physical (\(\checkmark \)) and Data Link (\(\checkmark \)):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Local hardware, cables,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1373040" y="4532760"/>
            <a:ext cx="4863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Wi-Fi connections, and local switch communications are functioning perfectly.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2" name="TextBox 14"/>
          <p:cNvSpPr/>
          <p:nvPr/>
        </p:nvSpPr>
        <p:spPr>
          <a:xfrm>
            <a:off x="1143000" y="472680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1373040" y="4710600"/>
            <a:ext cx="5060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-11" strike="noStrike" u="none">
                <a:solidFill>
                  <a:srgbClr val="000000"/>
                </a:solidFill>
                <a:uFillTx/>
                <a:latin typeface="Times New Roman"/>
              </a:rPr>
              <a:t>Network (\(\mathbf{X}\)):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The communication failure originates right here at the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1373040" y="4883040"/>
            <a:ext cx="9522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Network layer.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5" name="TextBox 17"/>
          <p:cNvSpPr/>
          <p:nvPr/>
        </p:nvSpPr>
        <p:spPr>
          <a:xfrm>
            <a:off x="1143000" y="507744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6" name="TextBox 18"/>
          <p:cNvSpPr/>
          <p:nvPr/>
        </p:nvSpPr>
        <p:spPr>
          <a:xfrm>
            <a:off x="1373040" y="5060880"/>
            <a:ext cx="52981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-6" strike="noStrike" u="none">
                <a:solidFill>
                  <a:srgbClr val="000000"/>
                </a:solidFill>
                <a:uFillTx/>
                <a:latin typeface="Times New Roman"/>
              </a:rPr>
              <a:t>Transport (\(\mathbf{X}\)) and Application (\(\mathbf{X}\)):</a:t>
            </a:r>
            <a:r>
              <a:rPr b="0" lang="en-US" sz="1200" spc="-17" strike="noStrike" u="none">
                <a:solidFill>
                  <a:srgbClr val="000000"/>
                </a:solidFill>
                <a:uFillTx/>
                <a:latin typeface="Times New Roman"/>
              </a:rPr>
              <a:t> These layers fail as a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914400" y="5233680"/>
            <a:ext cx="34376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marL="458640"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direct consequence of the Network layer failure.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en-US" sz="1200" spc="-9" strike="noStrike" u="none">
                <a:solidFill>
                  <a:srgbClr val="000000"/>
                </a:solidFill>
                <a:uFillTx/>
                <a:latin typeface="Times New Roman"/>
              </a:rPr>
              <a:t>How the Concept Map Helps in Troubleshooting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1143000" y="5732640"/>
            <a:ext cx="9360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020"/>
              </a:lnSpc>
              <a:tabLst>
                <a:tab algn="l" pos="0"/>
              </a:tabLst>
            </a:pPr>
            <a:r>
              <a:rPr b="0" lang="en" sz="101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r>
              <a:rPr b="0" lang="en-US" sz="1000" spc="3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9" name="TextBox 21"/>
          <p:cNvSpPr/>
          <p:nvPr/>
        </p:nvSpPr>
        <p:spPr>
          <a:xfrm>
            <a:off x="1373040" y="5716440"/>
            <a:ext cx="5456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Isolates the Fault: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The map tells a technician to completely skip troubleshooting cables,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0" name="TextBox 22"/>
          <p:cNvSpPr/>
          <p:nvPr/>
        </p:nvSpPr>
        <p:spPr>
          <a:xfrm>
            <a:off x="1373040" y="5890320"/>
            <a:ext cx="54097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network cards, or software applications.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Targets the Root Cause: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It pinpoints the investigation directly to Network layer issues.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7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 technician should immediately check for misconfigured static IP addresses, dead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defTabSz="914400">
              <a:lnSpc>
                <a:spcPts val="1199"/>
              </a:lnSpc>
              <a:spcBef>
                <a:spcPts val="19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default gateways, subnets mismatches, or faulty router tables.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Connector 2"/>
          <p:cNvCxnSpPr/>
          <p:nvPr/>
        </p:nvCxnSpPr>
        <p:spPr>
          <a:xfrm>
            <a:off x="917280" y="170280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2" name="Connector 3"/>
          <p:cNvCxnSpPr/>
          <p:nvPr/>
        </p:nvCxnSpPr>
        <p:spPr>
          <a:xfrm>
            <a:off x="6999480" y="170280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3" name="Connector 4"/>
          <p:cNvCxnSpPr/>
          <p:nvPr/>
        </p:nvCxnSpPr>
        <p:spPr>
          <a:xfrm>
            <a:off x="917280" y="208404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4" name="Connector 5"/>
          <p:cNvCxnSpPr/>
          <p:nvPr/>
        </p:nvCxnSpPr>
        <p:spPr>
          <a:xfrm>
            <a:off x="6999480" y="208404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5" name="Connector 6"/>
          <p:cNvCxnSpPr/>
          <p:nvPr/>
        </p:nvCxnSpPr>
        <p:spPr>
          <a:xfrm>
            <a:off x="917280" y="298548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6" name="Connector 7"/>
          <p:cNvCxnSpPr/>
          <p:nvPr/>
        </p:nvCxnSpPr>
        <p:spPr>
          <a:xfrm>
            <a:off x="6999480" y="298548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7" name="Connector 8"/>
          <p:cNvCxnSpPr/>
          <p:nvPr/>
        </p:nvCxnSpPr>
        <p:spPr>
          <a:xfrm>
            <a:off x="917280" y="440928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8" name="Connector 9"/>
          <p:cNvCxnSpPr/>
          <p:nvPr/>
        </p:nvCxnSpPr>
        <p:spPr>
          <a:xfrm>
            <a:off x="6999480" y="440928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89" name="Connector 10"/>
          <p:cNvCxnSpPr/>
          <p:nvPr/>
        </p:nvCxnSpPr>
        <p:spPr>
          <a:xfrm>
            <a:off x="917280" y="5661360"/>
            <a:ext cx="360" cy="1440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0" name="Connector 11"/>
          <p:cNvCxnSpPr/>
          <p:nvPr/>
        </p:nvCxnSpPr>
        <p:spPr>
          <a:xfrm>
            <a:off x="6999480" y="5661360"/>
            <a:ext cx="360" cy="1440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1" name="Connector 12"/>
          <p:cNvCxnSpPr/>
          <p:nvPr/>
        </p:nvCxnSpPr>
        <p:spPr>
          <a:xfrm>
            <a:off x="917280" y="673704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2" name="Connector 13"/>
          <p:cNvCxnSpPr/>
          <p:nvPr/>
        </p:nvCxnSpPr>
        <p:spPr>
          <a:xfrm>
            <a:off x="6999480" y="673704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3" name="Connector 15"/>
          <p:cNvCxnSpPr/>
          <p:nvPr/>
        </p:nvCxnSpPr>
        <p:spPr>
          <a:xfrm>
            <a:off x="5036040" y="208404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4" name="Connector 16"/>
          <p:cNvCxnSpPr/>
          <p:nvPr/>
        </p:nvCxnSpPr>
        <p:spPr>
          <a:xfrm>
            <a:off x="6060960" y="208404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5" name="Connector 17"/>
          <p:cNvCxnSpPr/>
          <p:nvPr/>
        </p:nvCxnSpPr>
        <p:spPr>
          <a:xfrm>
            <a:off x="5036040" y="298548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6" name="Connector 18"/>
          <p:cNvCxnSpPr/>
          <p:nvPr/>
        </p:nvCxnSpPr>
        <p:spPr>
          <a:xfrm>
            <a:off x="6060960" y="298548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7" name="Connector 19"/>
          <p:cNvCxnSpPr/>
          <p:nvPr/>
        </p:nvCxnSpPr>
        <p:spPr>
          <a:xfrm>
            <a:off x="5036040" y="440928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8" name="Connector 20"/>
          <p:cNvCxnSpPr/>
          <p:nvPr/>
        </p:nvCxnSpPr>
        <p:spPr>
          <a:xfrm>
            <a:off x="6060960" y="4409280"/>
            <a:ext cx="360" cy="1548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99" name="Connector 21"/>
          <p:cNvCxnSpPr/>
          <p:nvPr/>
        </p:nvCxnSpPr>
        <p:spPr>
          <a:xfrm>
            <a:off x="5036040" y="5661360"/>
            <a:ext cx="360" cy="1440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100" name="Connector 22"/>
          <p:cNvCxnSpPr/>
          <p:nvPr/>
        </p:nvCxnSpPr>
        <p:spPr>
          <a:xfrm>
            <a:off x="6060960" y="5661360"/>
            <a:ext cx="360" cy="1440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101" name="Connector 23"/>
          <p:cNvCxnSpPr/>
          <p:nvPr/>
        </p:nvCxnSpPr>
        <p:spPr>
          <a:xfrm>
            <a:off x="5036040" y="673704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cxnSp>
        <p:nvCxnSpPr>
          <p:cNvPr id="102" name="Connector 24"/>
          <p:cNvCxnSpPr/>
          <p:nvPr/>
        </p:nvCxnSpPr>
        <p:spPr>
          <a:xfrm>
            <a:off x="6060960" y="6737040"/>
            <a:ext cx="360" cy="15840"/>
          </a:xfrm>
          <a:prstGeom prst="straightConnector1">
            <a:avLst/>
          </a:prstGeom>
          <a:ln w="6350">
            <a:solidFill>
              <a:srgbClr val="000000"/>
            </a:solidFill>
            <a:round/>
          </a:ln>
        </p:spPr>
      </p:cxnSp>
      <p:graphicFrame>
        <p:nvGraphicFramePr>
          <p:cNvPr id="103" name="Table 25"/>
          <p:cNvGraphicFramePr/>
          <p:nvPr/>
        </p:nvGraphicFramePr>
        <p:xfrm>
          <a:off x="916920" y="1705680"/>
          <a:ext cx="6081840" cy="60980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996840"/>
                <a:gridCol w="761760"/>
                <a:gridCol w="1243080"/>
                <a:gridCol w="1117440"/>
                <a:gridCol w="1023480"/>
                <a:gridCol w="938520"/>
              </a:tblGrid>
              <a:tr h="380880">
                <a:tc>
                  <a:txBody>
                    <a:bodyPr lIns="0" rIns="0" tIns="120600" bIns="0" anchor="t">
                      <a:noAutofit/>
                    </a:bodyPr>
                    <a:p>
                      <a:pPr marL="23112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Criteria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316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Weightage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516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(%)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3834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Level 4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084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(Exemplary)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32004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Level 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814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(Proficient)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2728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Level 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928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(Developing)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23112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Level 1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849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(Beginning)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01440">
                <a:tc>
                  <a:txBody>
                    <a:bodyPr lIns="0" rIns="0" tIns="291960" bIns="0" anchor="t">
                      <a:noAutofit/>
                    </a:bodyPr>
                    <a:p>
                      <a:pPr marL="22356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532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Identification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9440" bIns="0" anchor="t">
                      <a:noAutofit/>
                    </a:bodyPr>
                    <a:p>
                      <a:pPr marL="2386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20%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60" bIns="0" anchor="t">
                      <a:noAutofit/>
                    </a:bodyPr>
                    <a:p>
                      <a:pPr marL="2844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Accurately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412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identifies all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26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relevant OSI layers,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059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concepts, and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300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relationships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04120" bIns="0" anchor="t">
                      <a:noAutofit/>
                    </a:bodyPr>
                    <a:p>
                      <a:pPr marL="990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Identifies most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concepts with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496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minor omissions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16640" bIns="0" anchor="t">
                      <a:noAutofit/>
                    </a:bodyPr>
                    <a:p>
                      <a:pPr marL="2196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Identifies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919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limited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392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concepts; some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306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inaccuracies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16640" bIns="0" anchor="t">
                      <a:noAutofit/>
                    </a:bodyPr>
                    <a:p>
                      <a:pPr marL="16884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Unable to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004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identify key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005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954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correctly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23440">
                <a:tc>
                  <a:txBody>
                    <a:bodyPr lIns="0" rIns="0" tIns="465840" bIns="0" anchor="t">
                      <a:noAutofit/>
                    </a:bodyPr>
                    <a:p>
                      <a:pPr marL="22356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969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Mapping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814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Structure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41160" bIns="0" anchor="t">
                      <a:noAutofit/>
                    </a:bodyPr>
                    <a:p>
                      <a:pPr marL="2386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25%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01600" bIns="0" anchor="t">
                      <a:noAutofit/>
                    </a:bodyPr>
                    <a:p>
                      <a:pPr marL="5472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Constructs a clear,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889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logical, and well-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633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organized concept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55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map with proper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030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hierarchy and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541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connections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6920" bIns="0" anchor="t">
                      <a:noAutofit/>
                    </a:bodyPr>
                    <a:p>
                      <a:pPr marL="8136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 map is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66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mostly clear with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658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minor structural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3722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issues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6920" bIns="0" anchor="t">
                      <a:noAutofit/>
                    </a:bodyPr>
                    <a:p>
                      <a:pPr marL="10404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 map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95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lacks clarity,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66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organization, 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497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proper flow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6920" bIns="0" anchor="t">
                      <a:noAutofit/>
                    </a:bodyPr>
                    <a:p>
                      <a:pPr marL="2070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No clear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80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structure 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954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incorrect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994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mapping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52080">
                <a:tc>
                  <a:txBody>
                    <a:bodyPr lIns="0" rIns="0" tIns="468360" bIns="0" anchor="t">
                      <a:noAutofit/>
                    </a:bodyPr>
                    <a:p>
                      <a:pPr marL="1522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Linking &amp;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532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Relationships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554760" bIns="0" anchor="t">
                      <a:noAutofit/>
                    </a:bodyPr>
                    <a:p>
                      <a:pPr marL="2386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20%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18080" bIns="0" anchor="t">
                      <a:noAutofit/>
                    </a:bodyPr>
                    <a:p>
                      <a:pPr marL="4572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Clearly establishes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4089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correct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300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relationships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461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between layers,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868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functions, and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3276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processes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9440" bIns="0" anchor="t">
                      <a:noAutofit/>
                    </a:bodyPr>
                    <a:p>
                      <a:pPr marL="280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Relationships are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80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mostly correct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16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with minor errors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9440" bIns="0" anchor="t">
                      <a:noAutofit/>
                    </a:bodyPr>
                    <a:p>
                      <a:pPr marL="1828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Limited 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30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partially correct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70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relationships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9440" bIns="0" anchor="t">
                      <a:noAutofit/>
                    </a:bodyPr>
                    <a:p>
                      <a:pPr marL="1090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Incorrect 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271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missing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774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relationships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76760">
                <a:tc>
                  <a:txBody>
                    <a:bodyPr lIns="0" rIns="0" tIns="379440" bIns="0" anchor="t">
                      <a:noAutofit/>
                    </a:bodyPr>
                    <a:p>
                      <a:pPr marL="306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Application &amp;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196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Analysis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467280" bIns="0" anchor="t">
                      <a:noAutofit/>
                    </a:bodyPr>
                    <a:p>
                      <a:pPr marL="2386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20%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60" bIns="0" anchor="t">
                      <a:noAutofit/>
                    </a:bodyPr>
                    <a:p>
                      <a:pPr marL="4572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Effectively applies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316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concepts to explain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537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processes (e.g.,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51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encapsulation, error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40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control) with strong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3225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reasoning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960" bIns="0" anchor="t">
                      <a:noAutofit/>
                    </a:bodyPr>
                    <a:p>
                      <a:pPr marL="90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application is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522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correct but lacks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432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depth in analysis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04120" bIns="0" anchor="t">
                      <a:noAutofit/>
                    </a:bodyPr>
                    <a:p>
                      <a:pPr marL="33912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Basic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404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application with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3481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weak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512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explanation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960" bIns="0" anchor="t">
                      <a:noAutofit/>
                    </a:bodyPr>
                    <a:p>
                      <a:pPr marL="16884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Unable to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5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apply concepts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9548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correctly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62720">
                <a:tc>
                  <a:txBody>
                    <a:bodyPr lIns="0" rIns="0" tIns="379440" bIns="0" anchor="t">
                      <a:noAutofit/>
                    </a:bodyPr>
                    <a:p>
                      <a:pPr marL="1404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Explanation &amp;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617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Clarity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79440" bIns="0" anchor="t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386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15%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60" bIns="0" anchor="t">
                      <a:noAutofit/>
                    </a:bodyPr>
                    <a:p>
                      <a:pPr marL="11448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Provides a clear,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673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concise, and well-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3150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structured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628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explanation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814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supporting the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311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concept map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960" bIns="0" anchor="t">
                      <a:noAutofit/>
                    </a:bodyPr>
                    <a:p>
                      <a:pPr marL="11700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Explanation is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9540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understandable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597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with minor gaps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960" bIns="0" anchor="t">
                      <a:noAutofit/>
                    </a:bodyPr>
                    <a:p>
                      <a:pPr marL="6876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Explanation is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20196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unclear 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6884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incomplete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91960" bIns="0" anchor="t">
                      <a:noAutofit/>
                    </a:bodyPr>
                    <a:p>
                      <a:pPr marL="124560"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No clear 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95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meaningful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  <a:p>
                      <a:pPr marL="110520" defTabSz="914400">
                        <a:lnSpc>
                          <a:spcPts val="1199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explanation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" name="TextBox 14"/>
          <p:cNvSpPr/>
          <p:nvPr/>
        </p:nvSpPr>
        <p:spPr>
          <a:xfrm>
            <a:off x="914400" y="1196280"/>
            <a:ext cx="2243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" sz="1200" spc="6" strike="noStrike" u="none">
                <a:solidFill>
                  <a:srgbClr val="000000"/>
                </a:solidFill>
                <a:uFillTx/>
                <a:latin typeface="Arial"/>
              </a:rPr>
              <a:t>RUBRICS FOR CALCULATION </a:t>
            </a:r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zh-CN</dc:language>
  <cp:lastModifiedBy/>
  <dcterms:modified xsi:type="dcterms:W3CDTF">2011-08-01T06:04:30Z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